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(GB)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472B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Social Media</c:v>
                  </c:pt>
                  <c:pt idx="1">
                    <c:v>YouTube</c:v>
                  </c:pt>
                  <c:pt idx="2">
                    <c:v>Google</c:v>
                  </c:pt>
                  <c:pt idx="3">
                    <c:v>Other</c:v>
                  </c:pt>
                  <c:pt idx="4">
                    <c:v>Gaming</c:v>
                  </c:pt>
                  <c:pt idx="5">
                    <c:v>Netflix</c:v>
                  </c:pt>
                  <c:pt idx="6">
                    <c:v>Email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4200</c:v>
                </c:pt>
                <c:pt idx="1">
                  <c:v>3800</c:v>
                </c:pt>
                <c:pt idx="2">
                  <c:v>2100</c:v>
                </c:pt>
                <c:pt idx="3">
                  <c:v>1900</c:v>
                </c:pt>
                <c:pt idx="4">
                  <c:v>1400</c:v>
                </c:pt>
                <c:pt idx="5">
                  <c:v>900</c:v>
                </c:pt>
                <c:pt idx="6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%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21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C1D9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B076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22</c:v>
                </c:pt>
                <c:pt idx="2">
                  <c:v>14</c:v>
                </c:pt>
                <c:pt idx="3">
                  <c:v>9</c:v>
                </c:pt>
                <c:pt idx="4">
                  <c:v>7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 GB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Social Media</c:v>
                  </c:pt>
                  <c:pt idx="1">
                    <c:v>YouTube</c:v>
                  </c:pt>
                  <c:pt idx="2">
                    <c:v>Google</c:v>
                  </c:pt>
                  <c:pt idx="3">
                    <c:v>Other</c:v>
                  </c:pt>
                  <c:pt idx="4">
                    <c:v>Gaming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3800</c:v>
                </c:pt>
                <c:pt idx="2">
                  <c:v>2100</c:v>
                </c:pt>
                <c:pt idx="3">
                  <c:v>1900</c:v>
                </c:pt>
                <c:pt idx="4">
                  <c:v>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Avg RTT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RTT (ms)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Good</c:v>
                  </c:pt>
                  <c:pt idx="1">
                    <c:v>Average</c:v>
                  </c:pt>
                  <c:pt idx="2">
                    <c:v>Poor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65</c:v>
                </c:pt>
                <c:pt idx="2">
                  <c:v>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TCP Retrans (KB)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TCP Retrans (KB)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Good</c:v>
                  </c:pt>
                  <c:pt idx="1">
                    <c:v>Average</c:v>
                  </c:pt>
                  <c:pt idx="2">
                    <c:v>Poor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45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Throughput (kbps)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(kbps)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Good</c:v>
                  </c:pt>
                  <c:pt idx="1">
                    <c:v>Average</c:v>
                  </c:pt>
                  <c:pt idx="2">
                    <c:v>Poor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</c:v>
                </c:pt>
                <c:pt idx="1">
                  <c:v>2200</c:v>
                </c:pt>
                <c:pt idx="2">
                  <c:v>680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Score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User 1</c:v>
                  </c:pt>
                  <c:pt idx="1">
                    <c:v>User 2</c:v>
                  </c:pt>
                  <c:pt idx="2">
                    <c:v>User 3</c:v>
                  </c:pt>
                  <c:pt idx="3">
                    <c:v>User 4</c:v>
                  </c:pt>
                  <c:pt idx="4">
                    <c:v>User 5</c:v>
                  </c:pt>
                  <c:pt idx="5">
                    <c:v>User 6</c:v>
                  </c:pt>
                  <c:pt idx="6">
                    <c:v>User 7</c:v>
                  </c:pt>
                  <c:pt idx="7">
                    <c:v>User 8</c:v>
                  </c:pt>
                  <c:pt idx="8">
                    <c:v>User 9</c:v>
                  </c:pt>
                  <c:pt idx="9">
                    <c:v>User 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8.92</c:v>
                </c:pt>
                <c:pt idx="1">
                  <c:v>8.75</c:v>
                </c:pt>
                <c:pt idx="2">
                  <c:v>8.68</c:v>
                </c:pt>
                <c:pt idx="3">
                  <c:v>8.54</c:v>
                </c:pt>
                <c:pt idx="4">
                  <c:v>8.41</c:v>
                </c:pt>
                <c:pt idx="5">
                  <c:v>8.35</c:v>
                </c:pt>
                <c:pt idx="6">
                  <c:v>8.28</c:v>
                </c:pt>
                <c:pt idx="7">
                  <c:v>8.19</c:v>
                </c:pt>
                <c:pt idx="8">
                  <c:v>8.12</c:v>
                </c:pt>
                <c:pt idx="9">
                  <c:v>8.05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FB718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Cluster 0 (Satisfied)</c:v>
                </c:pt>
                <c:pt idx="1">
                  <c:v>Cluster 1 (Dissatisfied)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 Score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Cluster 0</c:v>
                  </c:pt>
                  <c:pt idx="1">
                    <c:v>Cluster 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3.42</c:v>
                </c:pt>
                <c:pt idx="1">
                  <c:v>0.89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 Score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Cluster 0</c:v>
                  </c:pt>
                  <c:pt idx="1">
                    <c:v>Cluster 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2.81</c:v>
                </c:pt>
                <c:pt idx="1">
                  <c:v>1.12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Satisfaction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Cluster 0</c:v>
                  </c:pt>
                  <c:pt idx="1">
                    <c:v>Cluster 1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3.11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3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097280"/>
            <a:ext cx="2560320" cy="2560320"/>
          </a:xfrm>
          <a:prstGeom prst="ellipse">
            <a:avLst/>
          </a:prstGeom>
          <a:solidFill>
            <a:srgbClr val="0D1B2E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463040"/>
            <a:ext cx="1828800" cy="1828800"/>
          </a:xfrm>
          <a:prstGeom prst="ellipse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828800"/>
            <a:ext cx="914400" cy="9144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847088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INTELLIGENCE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2286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Overview · Engagement · Experience · Satisfaction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Pefkakia Region · 1 Month Aggregated · TellCo xDR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Sumeet Rajput  |  Telecom Intelligence Division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00584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17556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90,038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426464"/>
            <a:ext cx="175564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822960"/>
            <a:ext cx="2011680" cy="100584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822960"/>
            <a:ext cx="73152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914400"/>
            <a:ext cx="17556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1426464"/>
            <a:ext cx="175564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2011680" cy="100584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822960"/>
            <a:ext cx="73152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914400"/>
            <a:ext cx="17556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64608" y="1426464"/>
            <a:ext cx="175564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&amp; Analyzed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12864" y="822960"/>
            <a:ext cx="2011680" cy="1005840"/>
          </a:xfrm>
          <a:prstGeom prst="rect">
            <a:avLst/>
          </a:prstGeom>
          <a:solidFill>
            <a:srgbClr val="122338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12864" y="822960"/>
            <a:ext cx="73152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7456" y="914400"/>
            <a:ext cx="17556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77456" y="1426464"/>
            <a:ext cx="175564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(1-4)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8412480" cy="251460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468880"/>
            <a:ext cx="8138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&amp; Huawei dominate the handset market — top 2 manufacturers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YouTube drive the highest data consumption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users fall in the Low engagement cluster — growth opportunity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RTT and TCP retransmission rates indicate network quality issues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scores show clear segmentation into 2 distinct user groups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achieves R²=1.0 on satisfaction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xDR Dataset — Pefkakia Region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91440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25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90,038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234440"/>
            <a:ext cx="2011680" cy="91440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234440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325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1234440"/>
            <a:ext cx="2011680" cy="91440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234440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325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64608" y="17830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12864" y="1234440"/>
            <a:ext cx="2011680" cy="91440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12864" y="1234440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1325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77456" y="17830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Categories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Metrics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3931920" cy="219456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7889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Session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Protocol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Retransmission Volumes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 Time (RTT)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(DL/UL kbps)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Data (DL + UL bytes)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Steps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4114800" cy="219456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7889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unnamed index columns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missing values (mean/mode)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outlier clipping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number parsing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DL+UL aggregation per user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Total_Data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User Overview — Handsets &amp; Manufacturers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Manufacturers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Huawei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market share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2336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73152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Samsung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market share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02336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88920"/>
            <a:ext cx="73152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Apple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market share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Handsets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114800" cy="54864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704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Huawei B528S-23A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801368"/>
            <a:ext cx="4114800" cy="54864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Huawei E5180S-101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9736"/>
            <a:ext cx="4114800" cy="54864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87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Apple iPhone 6S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118104"/>
            <a:ext cx="4114800" cy="54864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455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Samsung Galaxy A5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776472"/>
            <a:ext cx="4114800" cy="54864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039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Huawei Nova 3i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3367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Huawei dominates both in manufacturer share and top handset models — a strong hardware partnership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User Overview — Application Data Usage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Consumption by Application Category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43000"/>
            <a:ext cx="2834640" cy="749808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14300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8192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08192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 GB  ·  #1 highest usage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2011680"/>
            <a:ext cx="2834640" cy="749808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011680"/>
            <a:ext cx="64008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8192" y="2039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08192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3,800 GB  ·  #2 video streaming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0" y="2880360"/>
            <a:ext cx="2834640" cy="749808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880360"/>
            <a:ext cx="64008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08192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08192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 GB  ·  #3 search &amp; services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43600" y="3749040"/>
            <a:ext cx="2834640" cy="749808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3749040"/>
            <a:ext cx="64008" cy="7498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0819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08192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GB  ·  #4 growing segment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681728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Social Media &amp; YouTube account for ~57% of total data traffic — strong case for differential pricing tiers.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User Overview — PCA Dimensionality Reduction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22960"/>
            <a:ext cx="31089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822960"/>
            <a:ext cx="73152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33872" y="914400"/>
            <a:ext cx="28529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833872" y="1289304"/>
            <a:ext cx="2852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explains variance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1737360"/>
            <a:ext cx="31089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737360"/>
            <a:ext cx="7315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33872" y="1828800"/>
            <a:ext cx="28529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833872" y="2203704"/>
            <a:ext cx="2852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PC1+PC2 combined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2651760"/>
            <a:ext cx="31089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2651760"/>
            <a:ext cx="73152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33872" y="2743200"/>
            <a:ext cx="28529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33872" y="3118104"/>
            <a:ext cx="2852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3-component coverage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0" y="3566160"/>
            <a:ext cx="31089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566160"/>
            <a:ext cx="73152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33872" y="3657600"/>
            <a:ext cx="28529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833872" y="4032504"/>
            <a:ext cx="2852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for 80% variance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14223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Just 3 principal components capture ~78% of total variance — confirming that a small number of app usage patterns drive most user behavior differences.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User Engagement — Clustering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 Engagement Clustering — Elbow Method confirmed k=3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91440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822960" cy="548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216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of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sessions, low traffic — bulk of the 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9144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31720"/>
            <a:ext cx="82296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Engagement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usage, consistent sessions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412480" cy="9144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83280"/>
            <a:ext cx="91440" cy="9144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29000"/>
            <a:ext cx="822960" cy="5486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08760" y="3410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of users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— high traffic &amp; sessions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0799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72% of users are low-engaged — a massive retention &amp; upsell opportunity through targeted data packages.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User Engagement — Top Users &amp; App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Applications by Total Traffic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Stats Summary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143000"/>
            <a:ext cx="3108960" cy="749808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143000"/>
            <a:ext cx="73152" cy="7498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33872" y="1234440"/>
            <a:ext cx="2852928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sessions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33872" y="1592885"/>
            <a:ext cx="2852928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Sessions (High)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011680"/>
            <a:ext cx="3108960" cy="749808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011680"/>
            <a:ext cx="73152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103120"/>
            <a:ext cx="2852928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sessions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33872" y="2461565"/>
            <a:ext cx="2852928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Sessions (Low)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2880360"/>
            <a:ext cx="3108960" cy="749808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880360"/>
            <a:ext cx="73152" cy="7498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33872" y="2971800"/>
            <a:ext cx="2852928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GB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833872" y="3330245"/>
            <a:ext cx="2852928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Traffic (High)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3749040"/>
            <a:ext cx="3108960" cy="749808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3749040"/>
            <a:ext cx="73152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3872" y="3840480"/>
            <a:ext cx="2852928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MB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833872" y="4198925"/>
            <a:ext cx="2852928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Traffic (Low)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23367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High engagement users generate 62x more traffic than low engagement users — a small group driving outsized network load.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Experience Analytics — Network Quality Clusters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9728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09728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Experience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RTT · Low TCP Retrans · High Throughput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868680"/>
            <a:ext cx="173736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868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 of users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10972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57400"/>
            <a:ext cx="109728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Experience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RTT · Moderate TCP · Acceptable TP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148840"/>
            <a:ext cx="173736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 of users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8412480" cy="109728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37560"/>
            <a:ext cx="109728" cy="10972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Experience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RTT · High Retransmission · Low Throughput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3429000"/>
            <a:ext cx="1737360" cy="6400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~34% of users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681728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~34% of users experience poor network quality — high churn risk requiring immediate infrastructure improvement.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Experience Analytics — Key Network Metrics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2743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00400" y="777240"/>
          <a:ext cx="2743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035040" y="777240"/>
          <a:ext cx="2743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3474720"/>
            <a:ext cx="8412480" cy="141732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548640" y="361188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cluster RTT is 5x higher than Good cluster — users experiencing severe latency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retransmission in Poor cluster is 8x higher — significant packet loss issues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drops 7x from Good to Poor cluster — bandwidth allocation problem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Priority QoS policies for high-RTT users + network infrastructure upgrade in affected zones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Satisfaction — Score Methodology (Task 4.1)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9728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= ( Engagement Score + Experience Score ) /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score = Euclidean Distance from user's scaled data point to the reference cluster centroid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256032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402336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023360" cy="214884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6032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Least Engaged Cluster (lowest mean traffic)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Sessions, Total Duration, Total Traffic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using StandardScaler parameters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different from low engagement = more engaged 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4023360" cy="256032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011680"/>
            <a:ext cx="4023360" cy="4114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4023360" cy="2148840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56032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Worst Experience Cluster (highest mean RTT)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Avg TCP Retrans, Avg RTT, Avg Throughput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using StandardScaler parameters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different from bad experience = better user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Satisfaction — Top 10 Satisfied Customers (Task 4.2)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777240"/>
            <a:ext cx="26517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777240"/>
            <a:ext cx="73152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91072" y="868680"/>
            <a:ext cx="23957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91072" y="1243584"/>
            <a:ext cx="23957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satisfaction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26517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691640"/>
            <a:ext cx="7315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1072" y="1783080"/>
            <a:ext cx="23957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91072" y="2157984"/>
            <a:ext cx="23957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top segment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2606040"/>
            <a:ext cx="26517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2606040"/>
            <a:ext cx="73152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1072" y="2697480"/>
            <a:ext cx="23957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91072" y="3072384"/>
            <a:ext cx="23957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above 8.0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3520440"/>
            <a:ext cx="2651760" cy="777240"/>
          </a:xfrm>
          <a:prstGeom prst="rect">
            <a:avLst/>
          </a:prstGeom>
          <a:solidFill>
            <a:srgbClr val="122338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520440"/>
            <a:ext cx="73152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3611880"/>
            <a:ext cx="239572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91072" y="3986784"/>
            <a:ext cx="23957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 satisfaction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Satisfaction — Regression Model Results (Task 4.3)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143000"/>
          </a:xfrm>
          <a:prstGeom prst="rect">
            <a:avLst/>
          </a:prstGeom>
          <a:solidFill>
            <a:srgbClr val="122338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91440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804672"/>
            <a:ext cx="77724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8046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335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335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51960" y="1335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335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412480" cy="11430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91440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148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2496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23160" y="2496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51960" y="2496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5196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1.9310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2496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11430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429000"/>
            <a:ext cx="91440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2316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5196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5196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1.9101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8076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773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Linear Regression achieves perfect R²=1.0 — satisfaction is a direct linear combination of engagement and experience scores.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Satisfaction — k=2 Clustering Results (Task 4.4)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822960"/>
            <a:ext cx="4023360" cy="1828800"/>
          </a:xfrm>
          <a:prstGeom prst="rect">
            <a:avLst/>
          </a:prstGeom>
          <a:solidFill>
            <a:srgbClr val="122338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0" y="822960"/>
            <a:ext cx="91440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859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37760" y="11521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Users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37760" y="1536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of users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 &amp; experience scores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834640"/>
            <a:ext cx="4023360" cy="1828800"/>
          </a:xfrm>
          <a:prstGeom prst="rect">
            <a:avLst/>
          </a:prstGeom>
          <a:solidFill>
            <a:srgbClr val="122338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834640"/>
            <a:ext cx="91440" cy="18288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871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1638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Dissatisfied Users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3776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users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scores — at-risk for churn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18795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35% dissatisfied users represent a significant churn risk — targeted retention campaigns could recover significant revenue.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Satisfaction — Aggregation &amp; MySQL Export (4.5 &amp; 4.6)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4.5 — Avg Scores per Cluster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4.6 — MySQL Export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143000"/>
            <a:ext cx="3200400" cy="292608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2344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user_satisfaction_scores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tellco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(MSISDN)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engagement_score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experience_score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satisfaction_score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satisfaction_cluster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predicted_satisfaction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exported: 90,038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Satisfaction — Model Tracking Report (Task 4.7)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201168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1005840"/>
                <a:gridCol w="1005840"/>
                <a:gridCol w="1005840"/>
                <a:gridCol w="10058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Run 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R²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8BDF8"/>
                          </a:solidFill>
                        </a:rPr>
                        <a:t>run_001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linear_regression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</a:rPr>
                        <a:t>1.0000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0.0000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0.0000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1.0000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BF24"/>
                          </a:solidFill>
                        </a:rPr>
                        <a:t>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8BDF8"/>
                          </a:solidFill>
                        </a:rPr>
                        <a:t>run_002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random_forest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0.0464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0.0147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1.9310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0.8098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8BDF8"/>
                          </a:solidFill>
                        </a:rPr>
                        <a:t>run_003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gradient_boosting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0.0670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0.0169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1.9101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0.8122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926080"/>
            <a:ext cx="8412480" cy="1417320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0632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Version: v1.0.0  |  Source: app.py  |  Experiment: tellco_satisfaction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includes: run_id, start/end time, duration, parameters, metrics, artifact paths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user_satisfaction_scores.csv + model_tracking_report.csv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options: Docker container (port 8501) or MLflow tracking server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622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https://github.com/SumeetRajput/Tellco-Intelligence  |  Dashboard: Streamlit (app.py)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Potential — Recommendation to Employer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POSITIVE GROWTH POTENTIAL — TellCo shows strong indicators for value creation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81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Low-Engaged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819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upsell opportunity — targeted data plans can convert low users to mid/high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73152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Dominance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359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Partnered data bundles for Social Media &amp; YouTube can drive ARPU growth significantly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73152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36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Poor Experience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1363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network quality for 34% of users could reduce churn and increase NPS dramatically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8412480" cy="685800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86200"/>
            <a:ext cx="73152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13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Dissatisfied Users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91363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campaigns targeting Cluster 1 users could recover significant lost revenue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274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TellCo has a large user base with significant untapped potential — positive growth trajectory with the right interventions.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Recommendation — Should We Buy TellCo?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CONDITIONAL YES — Recommend acquisition with clear performance milestones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TO Buy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4023360" cy="265176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0312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established user base (3,179+ unique users)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Social Media &amp; YouTube usage signals data monetization opportunity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low-engaged users = huge growth headroom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 improvable with targeted investment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model shows clear segmentation for targeted campaigns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Conditions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4023360" cy="2651760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10312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users have poor network experience — requires infra investment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users are dissatisfied — churn risk before and after acquisition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TCP retransmission rates suggest aging or under-maintained network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price must reflect current network quality deficit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milestones: reduce poor experience to &lt;15% within 12 months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73152" cy="5943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645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804672"/>
            <a:ext cx="6309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snapshot only — seasonal or trending behavior not captured. Longitudinal data needed for churn prediction.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594360"/>
          </a:xfrm>
          <a:prstGeom prst="rect">
            <a:avLst/>
          </a:prstGeom>
          <a:solidFill>
            <a:srgbClr val="12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73152" cy="5943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90472"/>
            <a:ext cx="1645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490472"/>
            <a:ext cx="6309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Pefkakia region only — results may not generalize to other TellCo operating regions or markets.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solidFill>
            <a:srgbClr val="1223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73152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76272"/>
            <a:ext cx="1645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Proxy: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176272"/>
            <a:ext cx="6309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is derived from engagement &amp; experience distance — not from direct customer surveys or NPS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solidFill>
            <a:srgbClr val="12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73152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62072"/>
            <a:ext cx="1645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R² Warning: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862072"/>
            <a:ext cx="6309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R²=1.0 indicates satisfaction is mathematically derived from scores — not an independent validation.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594360"/>
          </a:xfrm>
          <a:prstGeom prst="rect">
            <a:avLst/>
          </a:prstGeom>
          <a:solidFill>
            <a:srgbClr val="12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0440"/>
            <a:ext cx="73152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47872"/>
            <a:ext cx="1645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Stability: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547872"/>
            <a:ext cx="6309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is sensitive to initialization — results may vary with different random seeds or data samples.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122338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06240"/>
            <a:ext cx="73152" cy="5943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33672"/>
            <a:ext cx="1645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Demographics: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233672"/>
            <a:ext cx="6309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age, income, or location sub-region data — limits personalization and targeted campaign design.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Dataset: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80467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xDR Dataset — Pefkakia Region, 1-Month Aggregated Session Records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89304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Clustering: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316736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MacQueen, J. (1967). Some methods for classification and analysis of multivariate observations. Proceedings of 5th Berkeley Symposium on Mathematical Statistics and Probability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Dimensionality: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82880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Jolliffe, I.T. (2002). Principal Component Analysis, 2nd Edition. Springer Series in Statistics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408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Satisfaction Model: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34086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using scikit-learn: Pedregosa et al. (2011). JMLR 12, pp. 2825-2830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25496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529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Dashboard: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85292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(2024). The fastest way to build data apps. https://streamlit.io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64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MLOps Tracking: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36499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An open source platform for the machine learning lifecycle. https://mlflow.org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849624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770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GitHub Repository: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877056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Sumeet Rajput (2026). TellCo Intelligence Dashboard. https://github.com/SumeetRajput/Tellco-Intelligence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361688"/>
            <a:ext cx="8412480" cy="4572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891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Libraries: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438912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Plotly, scikit-learn, SciPy, SQLAlchemy, PyMySQL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2338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Telecom Intelligence Analysis  |  Sumeet Rajput  |  2026  |  github.com/SumeetRajput/Tellco-Intelligence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TellCo Telecom Intelligence Analysis</dc:title>
  <dc:subject>PptxGenJS Presentation</dc:subject>
  <dc:creator>Sumeet Rajput</dc:creator>
  <cp:lastModifiedBy>Sumeet Rajput</cp:lastModifiedBy>
  <cp:revision>1</cp:revision>
  <dcterms:created xsi:type="dcterms:W3CDTF">2026-04-10T21:06:12Z</dcterms:created>
  <dcterms:modified xsi:type="dcterms:W3CDTF">2026-04-10T21:06:12Z</dcterms:modified>
</cp:coreProperties>
</file>