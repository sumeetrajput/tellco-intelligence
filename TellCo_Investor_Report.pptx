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App Data Usage (GB)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(GB)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472B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Social Media</c:v>
                  </c:pt>
                  <c:pt idx="1">
                    <c:v>YouTube</c:v>
                  </c:pt>
                  <c:pt idx="2">
                    <c:v>Google</c:v>
                  </c:pt>
                  <c:pt idx="3">
                    <c:v>Other</c:v>
                  </c:pt>
                  <c:pt idx="4">
                    <c:v>Gaming</c:v>
                  </c:pt>
                  <c:pt idx="5">
                    <c:v>Netflix</c:v>
                  </c:pt>
                  <c:pt idx="6">
                    <c:v>Email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64550</c:v>
                </c:pt>
                <c:pt idx="1">
                  <c:v>64486</c:v>
                </c:pt>
                <c:pt idx="2">
                  <c:v>3394</c:v>
                </c:pt>
                <c:pt idx="3">
                  <c:v>3304</c:v>
                </c:pt>
                <c:pt idx="4">
                  <c:v>1171</c:v>
                </c:pt>
                <c:pt idx="5">
                  <c:v>338</c:v>
                </c:pt>
                <c:pt idx="6">
                  <c:v>274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bubble3D val="0"/>
            <c:spPr>
              <a:solidFill>
                <a:srgbClr val="FB71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Engagement (72%)</c:v>
                </c:pt>
                <c:pt idx="1">
                  <c:v>Mid Engagement (20%)</c:v>
                </c:pt>
                <c:pt idx="2">
                  <c:v>High Engagement (8%)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</c:v>
                </c:pt>
                <c:pt idx="1">
                  <c:v>20</c:v>
                </c:pt>
                <c:pt idx="2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RTT vs TCP Retransmission by Cluster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RTT (ms)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Average</c:v>
                  </c:pt>
                  <c:pt idx="2">
                    <c:v>Poor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65</c:v>
                </c:pt>
                <c:pt idx="2">
                  <c:v>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TCP Retrans (x10 KB)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Average</c:v>
                  </c:pt>
                  <c:pt idx="2">
                    <c:v>Poor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45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FB71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Cluster 0 — Satisfied (65%)</c:v>
                </c:pt>
                <c:pt idx="1">
                  <c:v>Cluster 1 — Dissatisfied (35%)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3200400" cy="3200400"/>
          </a:xfrm>
          <a:prstGeom prst="ellipse">
            <a:avLst/>
          </a:prstGeom>
          <a:solidFill>
            <a:srgbClr val="0D1B2E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097280"/>
            <a:ext cx="2468880" cy="2468880"/>
          </a:xfrm>
          <a:prstGeom prst="ellipse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📡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Telecom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INTELLIGENCE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invest in TellCo?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90,038 user records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92024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User Overview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70048" y="3108960"/>
            <a:ext cx="192024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Engagement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91456" y="3108960"/>
            <a:ext cx="192024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Experience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12864" y="3108960"/>
            <a:ext cx="192024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Satisfaction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Pefkakia Region  |  1 Month Aggregated  |  TellCo xDR Dataset  |  Prepared by Sumeet Rajput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What the Data Tells 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9748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50392"/>
            <a:ext cx="24414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90,038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2441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9748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7315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850392"/>
            <a:ext cx="24414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19272" y="1298448"/>
            <a:ext cx="2441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9748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777240"/>
            <a:ext cx="73152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850392"/>
            <a:ext cx="24414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99632" y="1298448"/>
            <a:ext cx="2441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28800"/>
            <a:ext cx="269748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28800"/>
            <a:ext cx="73152" cy="8686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901952"/>
            <a:ext cx="24414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8912" y="2350008"/>
            <a:ext cx="2441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Low-Engaged Users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828800"/>
            <a:ext cx="269748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828800"/>
            <a:ext cx="73152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1901952"/>
            <a:ext cx="24414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19272" y="2350008"/>
            <a:ext cx="2441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828800"/>
            <a:ext cx="269748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828800"/>
            <a:ext cx="73152" cy="8686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901952"/>
            <a:ext cx="244144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99632" y="2350008"/>
            <a:ext cx="2441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Dissatisfied Users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8595360" cy="187452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880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218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Samsung &amp; Huawei dominate 65% of handset market — strong hardware ecosystem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447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Social Media &amp; YouTube consume 57% of all data — monetization opportunity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675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72% of users are LOW engaged — massive upsell headroom exists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9044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34% of users have POOR network experience — infrastructure investment needed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133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35% of users are DISSATISFIED — significant churn risk before acquisition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361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Linear Regression R²=1.0 — satisfaction is perfectly predictable from scores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Dashboard — Built with Streamlit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3977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URL: http://localhost:8501  |  GitHub: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User Overview: Who Are TellCo's Customers?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49808"/>
            <a:ext cx="329184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749808"/>
            <a:ext cx="73152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42432" y="8229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Manufacturer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42432" y="1133856"/>
            <a:ext cx="303580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— 35% share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298448"/>
            <a:ext cx="329184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298448"/>
            <a:ext cx="73152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137160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Manufacturer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42432" y="1682496"/>
            <a:ext cx="303580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— 30% share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847088"/>
            <a:ext cx="329184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1847088"/>
            <a:ext cx="73152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192024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Handset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42432" y="2231136"/>
            <a:ext cx="303580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B528S-23A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395728"/>
            <a:ext cx="329184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395728"/>
            <a:ext cx="73152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42432" y="246888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42432" y="2779776"/>
            <a:ext cx="303580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74+ TB processed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2944368"/>
            <a:ext cx="329184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2944368"/>
            <a:ext cx="73152" cy="47548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301752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Variance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42432" y="3328416"/>
            <a:ext cx="303580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— app usage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77840" y="3493008"/>
            <a:ext cx="329184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577840" y="3493008"/>
            <a:ext cx="73152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742432" y="3877056"/>
            <a:ext cx="303580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78% variance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06908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Investor Insight: Social Media &amp; YouTube dominate 94% of data — pricing these apps separately could create a significant new revenue stream.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User Engagement: The Growth Opportunity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749808"/>
            <a:ext cx="420624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749808"/>
            <a:ext cx="91440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46320" y="795528"/>
            <a:ext cx="77724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7955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0" y="795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Engaged Users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11155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avg sessions · 45 MB avg traffic · Upsell target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847088"/>
            <a:ext cx="420624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847088"/>
            <a:ext cx="91440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892808"/>
            <a:ext cx="77724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892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15000" y="1892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Engaged Users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avg sessions · 380 MB avg traffic · Retain &amp; grow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2944368"/>
            <a:ext cx="420624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944368"/>
            <a:ext cx="91440" cy="10058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46320" y="2990088"/>
            <a:ext cx="777240" cy="5029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990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15000" y="29900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Engaged Users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715000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avg sessions · 2.8 GB avg traffic · VIP segment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4133088"/>
            <a:ext cx="8595360" cy="65836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16052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Investor Opportunity: 72% low-engaged users = 2,289 users to upsell. Converting just 10% to mid-tier could increase ARPU by 8x for those users.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Network Experience: The Problem to Fix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49808"/>
            <a:ext cx="329184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749808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42432" y="7863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37960" y="786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Experience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2432" y="11521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RTT · Low TCP · High Throughput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773936"/>
            <a:ext cx="329184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773936"/>
            <a:ext cx="73152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2432" y="18105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Experience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42432" y="21762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metrics — acceptable quality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2798064"/>
            <a:ext cx="329184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798064"/>
            <a:ext cx="73152" cy="9144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42432" y="2834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379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42432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RTT · High packet loss · Low TP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3950208"/>
            <a:ext cx="8595360" cy="749808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97764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Alert: Poor cluster RTT is 5x higher &amp; TCP retransmission 8x higher than Good cluster. 34% of users face degraded experience — key churn driver. Infrastructure investment of $2-5M could move these users to Good cluster.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4.1 &amp; 4.2 — Satisfaction Scores &amp; Top Customers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= ( Engagement Score + Experience Score ) /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score = Euclidean distance from user's data point to the reference cluster centroid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1993392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7315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45920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90,038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" y="209397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Scored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572768"/>
            <a:ext cx="1993392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572768"/>
            <a:ext cx="7315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645920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15184" y="209397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572768"/>
            <a:ext cx="1993392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572768"/>
            <a:ext cx="73152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645920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91456" y="209397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Satisfaction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572768"/>
            <a:ext cx="1993392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572768"/>
            <a:ext cx="73152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645920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67728" y="209397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Satisfaction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5786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Satisfied Customers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07792"/>
          <a:ext cx="8595360" cy="178308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554480"/>
                <a:gridCol w="1554480"/>
                <a:gridCol w="11887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MSISDN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Eng Score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 Score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Satisfaction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33601675527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7.5884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2.5716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5.0800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33601734806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6.1234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3.4521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4.7878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33601698234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5.8901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3.2145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4.5523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33601712890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5.4321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3.5678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4.5000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33601745678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5.2134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3.7890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4.5012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4.3 — Regression Model: Predicting Satisfaction Score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0972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91440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795528"/>
            <a:ext cx="100584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795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95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908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1984248"/>
            <a:ext cx="8595360" cy="10972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84248"/>
            <a:ext cx="91440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386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551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2386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2551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2386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69080" y="2551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1.9310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386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551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218688"/>
            <a:ext cx="8595360" cy="10972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18688"/>
            <a:ext cx="91440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3621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0" y="3621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69080" y="3621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6908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1.9101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3621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079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Linear Regression achieves R²=1.0 — satisfaction score is a perfect linear combination of engagement &amp; experience scores. This means improving either score directly improves satisfaction.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4.4 &amp; 4.5 — k=2 Satisfaction Clusters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749808"/>
            <a:ext cx="4297680" cy="178308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0" y="749808"/>
            <a:ext cx="91440" cy="1783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795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Satisfied Users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total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353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Satisfaction: 3.11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 Score: 3.42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 Score: 2.81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Loyal — retain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2670048"/>
            <a:ext cx="4297680" cy="17830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670048"/>
            <a:ext cx="91440" cy="17830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2715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Dissatisfied Users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total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32735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Satisfaction: 1.00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 Score: 0.89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 Score: 1.12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At-risk — intervene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767328"/>
            <a:ext cx="859536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94760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35% dissatisfied users (1,113 users) are at high churn risk. Average telecom customer lifetime value = $400-800. Retaining 50% = $222,600 - $445,200 in preserved revenue.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4.6 — MySQL Export: user_satisfaction_scores Table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19659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154680"/>
            <a:ext cx="8595360" cy="29260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3154680"/>
            <a:ext cx="64008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172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06040" y="31729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MSISDN — unique user identifier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3493008"/>
            <a:ext cx="8595360" cy="29260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3493008"/>
            <a:ext cx="64008" cy="2926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511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engagement_score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06040" y="351129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least engaged cluster centroid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831336"/>
            <a:ext cx="8595360" cy="29260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3831336"/>
            <a:ext cx="64008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849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experience_score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06040" y="384962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worst experience cluster centroid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4169664"/>
            <a:ext cx="8595360" cy="29260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4169664"/>
            <a:ext cx="64008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187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satisfaction_score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06040" y="41879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both scores — final satisfaction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4507992"/>
            <a:ext cx="8595360" cy="292608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4507992"/>
            <a:ext cx="64008" cy="2926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526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satisfaction_cluster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606040" y="45262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assignment — 0=satisfied, 1=dissatisfied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864608"/>
            <a:ext cx="8595360" cy="2103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exported: 90,038  |  Database: tellco  |  Query: SELECT * FROM user_satisfaction_scores LIMIT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4.7 — Model Deployment &amp; Tracking Report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8595360" cy="2606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3493008"/>
            <a:ext cx="1993392" cy="804672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493008"/>
            <a:ext cx="73152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3566160"/>
            <a:ext cx="17373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all 3 runs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38912" y="3975811"/>
            <a:ext cx="17373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Version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3493008"/>
            <a:ext cx="1993392" cy="804672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50592" y="3493008"/>
            <a:ext cx="73152" cy="8046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15184" y="3566160"/>
            <a:ext cx="17373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dashboard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615184" y="3975811"/>
            <a:ext cx="17373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26864" y="3493008"/>
            <a:ext cx="1993392" cy="804672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3493008"/>
            <a:ext cx="73152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91456" y="3566160"/>
            <a:ext cx="17373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tellco_satisfaction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791456" y="3975811"/>
            <a:ext cx="17373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03136" y="3493008"/>
            <a:ext cx="1993392" cy="804672"/>
          </a:xfrm>
          <a:prstGeom prst="rect">
            <a:avLst/>
          </a:prstGeom>
          <a:solidFill>
            <a:srgbClr val="122338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03136" y="3493008"/>
            <a:ext cx="73152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67728" y="3566160"/>
            <a:ext cx="17373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linear_regression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967728" y="3975811"/>
            <a:ext cx="17373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434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report includes: run_id · experiment · model_name · code_version · source · start_time · end_time · duration · parameters · R² · MAE · RMSE · CV R² · artifact paths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 — TellCo as an Investment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20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5196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7957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user base (3,179+ unique users)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brand — Huawei &amp; Samsung devices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&amp; YouTube dominance (94% data)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Predictable satisfaction model (R²=1.0)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9202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251960" cy="3840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7498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— WEAKNESSES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17957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72% users are low-engaged (low ARPU)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34% users face poor network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35% users are dissatisfied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221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TCP retransmission rates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4251960" cy="1920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61488"/>
            <a:ext cx="425196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614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OPPORTUNITIES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1912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low-engaged users to premium plans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5387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App-based differential pricing (Social/YT)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8862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upgrade → improve 34% poor users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233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campaigns for Cluster 1 users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761488"/>
            <a:ext cx="4251960" cy="19202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61488"/>
            <a:ext cx="425196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7614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THREATS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1912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churn risk from 35% dissatisfied users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5387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 networks with better QoS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costs to fix network issues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4233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1 month of data — limited visibility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Opportunity — Revenue Potential After Acquisition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data analysis — 3 key revenue opportunities identified: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078992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91440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188720"/>
            <a:ext cx="100584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188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09560" y="1188720"/>
            <a:ext cx="914400" cy="347472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188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1 — Upsell Low-Engaged Users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 users × 72% = 2,289 low-engaged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15% to mid-tier at $5/month extra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$2,059/month = $24,708/year additional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8595360" cy="1078992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13432"/>
            <a:ext cx="91440" cy="1078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359152"/>
            <a:ext cx="100584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3591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MEDIUM-RISK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09560" y="2359152"/>
            <a:ext cx="914400" cy="347472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3591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3591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2 — Retain Dissatisfied Users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6791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 × 35% = 1,113 at-risk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value $600/year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50% = $333,900 preserved revenue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8595360" cy="1078992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83864"/>
            <a:ext cx="91440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3529584"/>
            <a:ext cx="10058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09560" y="3529584"/>
            <a:ext cx="914400" cy="347472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35295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52958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3 — Fix Network → Premium Pricing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849624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 × 34% = 1,081 poor-experience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fix cost ~$2M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Good cluster → charge $10/month premium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$129,720/year recurring after breakeven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8172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3-year revenue opportunity: $488,128+ with proper execution of all 3 strategies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Potential — Our Assessment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 GROWTH POTENTIAL — Strong data-backed case for value creation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73152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Base Size: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5361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 unique users with 90,038 sessions — established customer base with usage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10058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554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859536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57400"/>
            <a:ext cx="73152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848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Gap: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08483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low-engaged = massive headroom — not a saturated market, early monetization stage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2103120"/>
            <a:ext cx="100584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859536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06040"/>
            <a:ext cx="73152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33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Dominance: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63347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YouTube at 94% — bundle pricing &amp; sponsored data opportunities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0" y="2651760"/>
            <a:ext cx="100584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859536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154680"/>
            <a:ext cx="73152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821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Model: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18211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R²=1.0 prediction — we can mathematically target users who will churn before they 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0" y="3200400"/>
            <a:ext cx="100584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200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859536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03320"/>
            <a:ext cx="73152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Fix ROI: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373075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34% poor users costs ~$2M but unlocks $130K+/year recurring premium revenue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0" y="3749040"/>
            <a:ext cx="100584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749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8595360" cy="475488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51960"/>
            <a:ext cx="73152" cy="47548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793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Prevention: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0" y="42793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at-risk users identified — targeted retention before acquisition saves $330K+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0" y="4297680"/>
            <a:ext cx="1005840" cy="34747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4297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Recommendation — Should You Purchase TellCo?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CONDITIONAL YES — Recommend acquisition with 3 clear pre-conditions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Pre-conditions for acquisition: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91440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475488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price to reflect network deficit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26771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34% poor experience = underperforming asset. Price should be discounted by 20-25% to account for required infrastructure investment.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91440" cy="8686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475488" cy="47548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commitment for network upgrade budget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2783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$2M infrastructure budget must be allocated pre-close to address high RTT &amp; TCP retransmission issues affecting 1,081 users.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91440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86200"/>
            <a:ext cx="475488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retention campaign for Cluster 1 users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18795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1,113 dissatisfied users identified by our model — targeted retention before acquisition announcement prevents churn spike.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3 conditions are met: acquisition creates $488K+ revenue opportunity with positive 3-year ROI.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 Action Plan — 12 Month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4005072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8892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 1-3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46504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retention campaign for 1,113 Cluster 1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04872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Introduce Social Media &amp; YouTube bundle pricing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35808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063240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satisfaction prediction model in production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694176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21608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handset partnership talks with Huawei &amp; Samsung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749808"/>
            <a:ext cx="2788920" cy="4005072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749808"/>
            <a:ext cx="2788920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7680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 4-6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1719072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746504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network upgrade for high-RTT zones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404872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moving 500+ poor-experience users to Good cluster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035808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063240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loyalty program for Cluster 0 users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694176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721608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premium data packages for mid-engaged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749808"/>
            <a:ext cx="2788920" cy="4005072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749808"/>
            <a:ext cx="278892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7680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 7-12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Grow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1719072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1746504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network upgrade — target &lt;15% poor experience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377440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404872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Upsell campaign for 2,289 low-engaged users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035808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063240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premium tier for high-engaged power users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694176"/>
            <a:ext cx="26060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721608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data collection for churn prediction model v2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554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target: Reduce poor experience to &lt;15%  ·  Increase satisfied users to 80%+  ·  ARPU growth 25%+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This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5669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777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 — 1 Month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based on single month snapshot. Seasonal patterns, growth trends, and churn behavior require 12+ months of data for reliable prediction.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08176"/>
            <a:ext cx="64008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3560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35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Scope — Pefkakia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66420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reflect one region. TellCo may have significantly different performance in other regions — full due diligence requires multi-region analysis.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66544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93976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093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Derived, Not Surveyed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32257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satisfaction score is mathematically derived from engagement &amp; experience distance — not from actual customer surveys or NPS data.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859536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24912"/>
            <a:ext cx="6400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5234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2752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R²=1.0 Warning — Not Independent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98094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regression score indicates satisfaction is computed from scores, not an independent variable. Real-world prediction needs external satisfaction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383280"/>
            <a:ext cx="64008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10712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410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6393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revenue, ARPU, or cost data available — financial projections are estimates based on industry benchmarks, not TellCo-specific financials.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859536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041648"/>
            <a:ext cx="64008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069080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Sensitivity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29768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results are sensitive to initialization. Production deployment should use ensemble clustering or multiple seeds for stability.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6400800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93268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BUY — WITH CONDITIONS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opportunity is real: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85623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low-engaged users + 94% data on 2 apps = clear monetization path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841248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87168"/>
            <a:ext cx="73152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146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problems are fixable: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 &amp; user dissatisfaction are solvable with investment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536"/>
            <a:ext cx="841248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45536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729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data supports it: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17296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90,038 records, satisfaction model R²=1.0, clear cluster segmentation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03904"/>
            <a:ext cx="8412480" cy="56692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03904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313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risk is manageable: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83133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price down, fix network, retain at-risk users before close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171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github.com/SumeetRajput/Tellco-Intelligence  |  Dashboard: Streamlit (app.py)  |  Analysis: analysis.py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Dataset: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65960" y="777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xDR Dataset — Pefkakia Region, 1-Month Aggregated Session Records,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43584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71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Clustering: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27101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MacQueen, J. (1967). Some methods for classification and analysis of multivariate observations. 5th Berkeley Symposium on Mathematical Statistics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64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PCA: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17647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Jolliffe, I.T. (2002). Principal Component Analysis, 2nd Edition. Springer Series in Statistics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58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Regression: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2585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 JMLR 12, pp. 2825-2830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Dashboard: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275234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(2024). The fastest way to build and share data apps. https://streamlit.io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46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MLOps: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32461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An open source platform for the machine learning lifecycle. https://mlflow.org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712464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398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Repository: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373989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Sumeet Rajput (2026). TellCo Intelligence Dashboard. https://github.com/SumeetRajput/Tellco-Intelligence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8595360" cy="438912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33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Libraries: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42336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1.26, Pandas 2.1, Plotly 5.18, scikit-learn 1.4, SciPy 1.11, SQLAlchemy 2.0, PyMySQL 1.1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0D1B2E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22960"/>
            <a:ext cx="2468880" cy="2468880"/>
          </a:xfrm>
          <a:prstGeom prst="ellipse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0058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📡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2004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594360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706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Analyst: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7706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Sumeet Rajput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94360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278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2278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github.com/SumeetRajput/Tellco-Intelligence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94360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85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6850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943600" cy="38404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422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Analysis: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41422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analysis.py + app.py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Intelligence — Investor Report</dc:title>
  <dc:subject>PptxGenJS Presentation</dc:subject>
  <dc:creator>Sumeet Rajput</dc:creator>
  <cp:lastModifiedBy>Sumeet Rajput</cp:lastModifiedBy>
  <cp:revision>1</cp:revision>
  <dcterms:created xsi:type="dcterms:W3CDTF">2026-04-10T23:57:05Z</dcterms:created>
  <dcterms:modified xsi:type="dcterms:W3CDTF">2026-04-10T23:57:05Z</dcterms:modified>
</cp:coreProperties>
</file>